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Project on forecasting parking demand with elastic net regularized regression.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Drivers cruise blind, operators react blind. The visual on the right is what every existing system can tell you: the present moment, and only on arrival.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movements: what we set out to do, how we do it, what comes out of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four generations left to right, then land on the closing line: descriptive, not predictive.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stages along one road. Stage 4 is where the elastic net does the work — the next slide explains why that algorithm.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Lasso selects, Ridge stabilises, elastic net does both. Parking features are heavily correlated, which is the exact case elastic net was designed for.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metrics, a defensible validation plan, and the impact the forecasts are meant to have.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one-line takeaway and open the floor.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685800"/>
            <a:ext cx="457200" cy="457200"/>
          </a:xfrm>
          <a:prstGeom prst="roundRect">
            <a:avLst>
              <a:gd name="adj" fmla="val 32000"/>
            </a:avLst>
          </a:prstGeom>
          <a:solidFill>
            <a:srgbClr val="C8FF2E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777240" y="685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435608" y="6858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8F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  ·  MINI PROJECT  ·  A.Y. 2026–27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69164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6210"/>
              </a:lnSpc>
              <a:buNone/>
            </a:pPr>
            <a:r>
              <a:rPr lang="en-US" sz="5400" b="1" spc="-50" kern="0" dirty="0">
                <a:solidFill>
                  <a:srgbClr val="F2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PARKING OCCUPANCY</a:t>
            </a:r>
            <a:endParaRPr lang="en-US" sz="5400" dirty="0"/>
          </a:p>
          <a:p>
            <a:pPr indent="0" marL="0">
              <a:lnSpc>
                <a:spcPts val="6210"/>
              </a:lnSpc>
              <a:buNone/>
            </a:pPr>
            <a:r>
              <a:rPr lang="en-US" sz="5400" b="1" spc="-50" kern="0" dirty="0">
                <a:solidFill>
                  <a:srgbClr val="F2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40156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C8F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 Net Regression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822960" y="4041648"/>
            <a:ext cx="1371600" cy="0"/>
          </a:xfrm>
          <a:prstGeom prst="line">
            <a:avLst/>
          </a:prstGeom>
          <a:noFill/>
          <a:ln w="38100">
            <a:solidFill>
              <a:srgbClr val="C8FF2E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822960" y="42062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A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parking occupancy from historical parking data.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8006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8F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2423160" y="48006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6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Nuguri Siri — 2520030309   ·   S. Manvi Vaishnavi — 2520030326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518464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8F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GUIDE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2423160" y="518464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6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Shaik Asif — Assistant Professor, CSE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556869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8F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2423160" y="556869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6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Science and Engineering, B.Tech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641080" y="1783080"/>
            <a:ext cx="502920" cy="1234440"/>
          </a:xfrm>
          <a:prstGeom prst="rect">
            <a:avLst/>
          </a:prstGeom>
          <a:solidFill>
            <a:srgbClr val="12161C">
              <a:alpha val="0"/>
            </a:srgbClr>
          </a:solidFill>
          <a:ln w="15875">
            <a:solidFill>
              <a:srgbClr val="2A3340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9217152" y="1783080"/>
            <a:ext cx="502920" cy="1234440"/>
          </a:xfrm>
          <a:prstGeom prst="rect">
            <a:avLst/>
          </a:prstGeom>
          <a:solidFill>
            <a:srgbClr val="12161C">
              <a:alpha val="0"/>
            </a:srgbClr>
          </a:solidFill>
          <a:ln w="15875">
            <a:solidFill>
              <a:srgbClr val="2A3340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9793224" y="1783080"/>
            <a:ext cx="502920" cy="1234440"/>
          </a:xfrm>
          <a:prstGeom prst="rect">
            <a:avLst/>
          </a:prstGeom>
          <a:solidFill>
            <a:srgbClr val="12161C">
              <a:alpha val="0"/>
            </a:srgbClr>
          </a:solidFill>
          <a:ln w="15875">
            <a:solidFill>
              <a:srgbClr val="2A3340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10369296" y="1783080"/>
            <a:ext cx="502920" cy="1234440"/>
          </a:xfrm>
          <a:prstGeom prst="rect">
            <a:avLst/>
          </a:prstGeom>
          <a:solidFill>
            <a:srgbClr val="12161C">
              <a:alpha val="0"/>
            </a:srgbClr>
          </a:solidFill>
          <a:ln w="15875">
            <a:solidFill>
              <a:srgbClr val="2A3340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10945368" y="1783080"/>
            <a:ext cx="502920" cy="1234440"/>
          </a:xfrm>
          <a:prstGeom prst="rect">
            <a:avLst/>
          </a:prstGeom>
          <a:solidFill>
            <a:srgbClr val="12161C">
              <a:alpha val="0"/>
            </a:srgbClr>
          </a:solidFill>
          <a:ln w="15875">
            <a:solidFill>
              <a:srgbClr val="2A3340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11521440" y="1783080"/>
            <a:ext cx="502920" cy="1234440"/>
          </a:xfrm>
          <a:prstGeom prst="rect">
            <a:avLst/>
          </a:prstGeom>
          <a:solidFill>
            <a:srgbClr val="12161C">
              <a:alpha val="0"/>
            </a:srgbClr>
          </a:solidFill>
          <a:ln w="15875">
            <a:solidFill>
              <a:srgbClr val="2A3340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10369296" y="1783080"/>
            <a:ext cx="502920" cy="1234440"/>
          </a:xfrm>
          <a:prstGeom prst="rect">
            <a:avLst/>
          </a:prstGeom>
          <a:solidFill>
            <a:srgbClr val="C8FF2E">
              <a:alpha val="28000"/>
            </a:srgbClr>
          </a:solidFill>
          <a:ln w="12700">
            <a:solidFill>
              <a:srgbClr val="C8FF2E"/>
            </a:solidFill>
            <a:prstDash val="solid"/>
          </a:ln>
        </p:spPr>
        <p:txBody>
          <a:bodyPr/>
          <a:p/>
        </p:txBody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69880" y="2240280"/>
            <a:ext cx="301752" cy="30175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548640"/>
            <a:ext cx="457200" cy="457200"/>
          </a:xfrm>
          <a:prstGeom prst="roundRect">
            <a:avLst>
              <a:gd name="adj" fmla="val 32000"/>
            </a:avLst>
          </a:prstGeom>
          <a:solidFill>
            <a:srgbClr val="C8FF2E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777240" y="548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435608" y="548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8F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·  PROBLEM STATEMENT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9921240" y="320040"/>
            <a:ext cx="2011680" cy="1341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22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88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37160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140"/>
              </a:lnSpc>
              <a:buNone/>
            </a:pPr>
            <a:r>
              <a:rPr lang="en-US" sz="3600" b="1" spc="-50" kern="0" dirty="0">
                <a:solidFill>
                  <a:srgbClr val="F2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LOT IS FULL AND</a:t>
            </a:r>
            <a:endParaRPr lang="en-US" sz="3600" dirty="0"/>
          </a:p>
          <a:p>
            <a:pPr indent="0" marL="0">
              <a:lnSpc>
                <a:spcPts val="4140"/>
              </a:lnSpc>
              <a:buNone/>
            </a:pPr>
            <a:r>
              <a:rPr lang="en-US" sz="3600" b="1" spc="-50" kern="0" dirty="0">
                <a:solidFill>
                  <a:srgbClr val="F2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NOBODY SAW IT COMING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743200"/>
            <a:ext cx="5852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C6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Parking occupancy changes by location, capacity and time. Without prediction, it is difficult to understand how many vehicles are likely to occupy a parking area at a given time. This project uses historical parking data and machine learning to predict occupancy.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841248" y="4672584"/>
            <a:ext cx="201168" cy="45720"/>
          </a:xfrm>
          <a:prstGeom prst="rect">
            <a:avLst/>
          </a:prstGeom>
          <a:solidFill>
            <a:srgbClr val="C8FF2E"/>
          </a:solidFill>
          <a:ln/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1234440" y="4526280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2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 estimating parking occupancy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41248" y="5093208"/>
            <a:ext cx="201168" cy="45720"/>
          </a:xfrm>
          <a:prstGeom prst="rect">
            <a:avLst/>
          </a:prstGeom>
          <a:solidFill>
            <a:srgbClr val="C8FF2E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1234440" y="4946904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2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Changing occupancy across parking locations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41248" y="5513832"/>
            <a:ext cx="201168" cy="45720"/>
          </a:xfrm>
          <a:prstGeom prst="rect">
            <a:avLst/>
          </a:prstGeom>
          <a:solidFill>
            <a:srgbClr val="C8FF2E"/>
          </a:solidFill>
          <a:ln/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1234440" y="536752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2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for data-driven parking planning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41248" y="5934456"/>
            <a:ext cx="201168" cy="45720"/>
          </a:xfrm>
          <a:prstGeom prst="rect">
            <a:avLst/>
          </a:prstGeom>
          <a:solidFill>
            <a:srgbClr val="C8FF2E"/>
          </a:solidFill>
          <a:ln/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1234440" y="5788152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2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parking capacities and occupancy levels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7452360" y="2331720"/>
            <a:ext cx="566928" cy="420624"/>
          </a:xfrm>
          <a:prstGeom prst="rect">
            <a:avLst/>
          </a:prstGeom>
          <a:solidFill>
            <a:srgbClr val="C8FF2E">
              <a:alpha val="28000"/>
            </a:srgbClr>
          </a:solidFill>
          <a:ln w="12700">
            <a:solidFill>
              <a:srgbClr val="C8FF2E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8119872" y="2331720"/>
            <a:ext cx="566928" cy="420624"/>
          </a:xfrm>
          <a:prstGeom prst="rect">
            <a:avLst/>
          </a:prstGeom>
          <a:solidFill>
            <a:srgbClr val="C8FF2E">
              <a:alpha val="28000"/>
            </a:srgbClr>
          </a:solidFill>
          <a:ln w="12700">
            <a:solidFill>
              <a:srgbClr val="C8FF2E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8787384" y="2331720"/>
            <a:ext cx="566928" cy="420624"/>
          </a:xfrm>
          <a:prstGeom prst="rect">
            <a:avLst/>
          </a:prstGeom>
          <a:solidFill>
            <a:srgbClr val="C8FF2E">
              <a:alpha val="28000"/>
            </a:srgbClr>
          </a:solidFill>
          <a:ln w="12700">
            <a:solidFill>
              <a:srgbClr val="C8FF2E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9454896" y="2331720"/>
            <a:ext cx="566928" cy="420624"/>
          </a:xfrm>
          <a:prstGeom prst="rect">
            <a:avLst/>
          </a:prstGeom>
          <a:solidFill>
            <a:srgbClr val="C8FF2E">
              <a:alpha val="28000"/>
            </a:srgbClr>
          </a:solidFill>
          <a:ln w="12700">
            <a:solidFill>
              <a:srgbClr val="C8FF2E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10122408" y="2331720"/>
            <a:ext cx="566928" cy="420624"/>
          </a:xfrm>
          <a:prstGeom prst="rect">
            <a:avLst/>
          </a:prstGeom>
          <a:solidFill>
            <a:srgbClr val="C8FF2E">
              <a:alpha val="28000"/>
            </a:srgbClr>
          </a:solidFill>
          <a:ln w="12700">
            <a:solidFill>
              <a:srgbClr val="C8FF2E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10789920" y="2331720"/>
            <a:ext cx="566928" cy="420624"/>
          </a:xfrm>
          <a:prstGeom prst="rect">
            <a:avLst/>
          </a:prstGeom>
          <a:solidFill>
            <a:srgbClr val="C8FF2E">
              <a:alpha val="28000"/>
            </a:srgbClr>
          </a:solidFill>
          <a:ln w="12700">
            <a:solidFill>
              <a:srgbClr val="C8FF2E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7452360" y="2852928"/>
            <a:ext cx="566928" cy="420624"/>
          </a:xfrm>
          <a:prstGeom prst="rect">
            <a:avLst/>
          </a:prstGeom>
          <a:solidFill>
            <a:srgbClr val="C8FF2E">
              <a:alpha val="28000"/>
            </a:srgbClr>
          </a:solidFill>
          <a:ln w="12700">
            <a:solidFill>
              <a:srgbClr val="C8FF2E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8119872" y="2852928"/>
            <a:ext cx="566928" cy="420624"/>
          </a:xfrm>
          <a:prstGeom prst="rect">
            <a:avLst/>
          </a:prstGeom>
          <a:solidFill>
            <a:srgbClr val="C8FF2E">
              <a:alpha val="28000"/>
            </a:srgbClr>
          </a:solidFill>
          <a:ln w="12700">
            <a:solidFill>
              <a:srgbClr val="C8FF2E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8787384" y="2852928"/>
            <a:ext cx="566928" cy="420624"/>
          </a:xfrm>
          <a:prstGeom prst="rect">
            <a:avLst/>
          </a:prstGeom>
          <a:solidFill>
            <a:srgbClr val="C8FF2E">
              <a:alpha val="28000"/>
            </a:srgbClr>
          </a:solidFill>
          <a:ln w="12700">
            <a:solidFill>
              <a:srgbClr val="C8FF2E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9454896" y="2852928"/>
            <a:ext cx="566928" cy="420624"/>
          </a:xfrm>
          <a:prstGeom prst="rect">
            <a:avLst/>
          </a:prstGeom>
          <a:solidFill>
            <a:srgbClr val="12161C">
              <a:alpha val="0"/>
            </a:srgbClr>
          </a:solidFill>
          <a:ln w="15875">
            <a:solidFill>
              <a:srgbClr val="2A3340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10122408" y="2852928"/>
            <a:ext cx="566928" cy="420624"/>
          </a:xfrm>
          <a:prstGeom prst="rect">
            <a:avLst/>
          </a:prstGeom>
          <a:solidFill>
            <a:srgbClr val="C8FF2E">
              <a:alpha val="28000"/>
            </a:srgbClr>
          </a:solidFill>
          <a:ln w="12700">
            <a:solidFill>
              <a:srgbClr val="C8FF2E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10789920" y="2852928"/>
            <a:ext cx="566928" cy="420624"/>
          </a:xfrm>
          <a:prstGeom prst="rect">
            <a:avLst/>
          </a:prstGeom>
          <a:solidFill>
            <a:srgbClr val="C8FF2E">
              <a:alpha val="28000"/>
            </a:srgbClr>
          </a:solidFill>
          <a:ln w="12700">
            <a:solidFill>
              <a:srgbClr val="C8FF2E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7452360" y="3374136"/>
            <a:ext cx="566928" cy="420624"/>
          </a:xfrm>
          <a:prstGeom prst="rect">
            <a:avLst/>
          </a:prstGeom>
          <a:solidFill>
            <a:srgbClr val="C8FF2E">
              <a:alpha val="28000"/>
            </a:srgbClr>
          </a:solidFill>
          <a:ln w="12700">
            <a:solidFill>
              <a:srgbClr val="C8FF2E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8119872" y="3374136"/>
            <a:ext cx="566928" cy="420624"/>
          </a:xfrm>
          <a:prstGeom prst="rect">
            <a:avLst/>
          </a:prstGeom>
          <a:solidFill>
            <a:srgbClr val="C8FF2E">
              <a:alpha val="28000"/>
            </a:srgbClr>
          </a:solidFill>
          <a:ln w="12700">
            <a:solidFill>
              <a:srgbClr val="C8FF2E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8787384" y="3374136"/>
            <a:ext cx="566928" cy="420624"/>
          </a:xfrm>
          <a:prstGeom prst="rect">
            <a:avLst/>
          </a:prstGeom>
          <a:solidFill>
            <a:srgbClr val="C8FF2E">
              <a:alpha val="28000"/>
            </a:srgbClr>
          </a:solidFill>
          <a:ln w="12700">
            <a:solidFill>
              <a:srgbClr val="C8FF2E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9454896" y="3374136"/>
            <a:ext cx="566928" cy="420624"/>
          </a:xfrm>
          <a:prstGeom prst="rect">
            <a:avLst/>
          </a:prstGeom>
          <a:solidFill>
            <a:srgbClr val="C8FF2E">
              <a:alpha val="28000"/>
            </a:srgbClr>
          </a:solidFill>
          <a:ln w="12700">
            <a:solidFill>
              <a:srgbClr val="C8FF2E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10122408" y="3374136"/>
            <a:ext cx="566928" cy="420624"/>
          </a:xfrm>
          <a:prstGeom prst="rect">
            <a:avLst/>
          </a:prstGeom>
          <a:solidFill>
            <a:srgbClr val="12161C">
              <a:alpha val="0"/>
            </a:srgbClr>
          </a:solidFill>
          <a:ln w="15875">
            <a:solidFill>
              <a:srgbClr val="2A3340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10789920" y="3374136"/>
            <a:ext cx="566928" cy="420624"/>
          </a:xfrm>
          <a:prstGeom prst="rect">
            <a:avLst/>
          </a:prstGeom>
          <a:solidFill>
            <a:srgbClr val="C8FF2E">
              <a:alpha val="28000"/>
            </a:srgbClr>
          </a:solidFill>
          <a:ln w="12700">
            <a:solidFill>
              <a:srgbClr val="C8FF2E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7452360" y="3895344"/>
            <a:ext cx="566928" cy="420624"/>
          </a:xfrm>
          <a:prstGeom prst="rect">
            <a:avLst/>
          </a:prstGeom>
          <a:solidFill>
            <a:srgbClr val="C8FF2E">
              <a:alpha val="28000"/>
            </a:srgbClr>
          </a:solidFill>
          <a:ln w="12700">
            <a:solidFill>
              <a:srgbClr val="C8FF2E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8119872" y="3895344"/>
            <a:ext cx="566928" cy="420624"/>
          </a:xfrm>
          <a:prstGeom prst="rect">
            <a:avLst/>
          </a:prstGeom>
          <a:solidFill>
            <a:srgbClr val="C8FF2E">
              <a:alpha val="28000"/>
            </a:srgbClr>
          </a:solidFill>
          <a:ln w="12700">
            <a:solidFill>
              <a:srgbClr val="C8FF2E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8787384" y="3895344"/>
            <a:ext cx="566928" cy="420624"/>
          </a:xfrm>
          <a:prstGeom prst="rect">
            <a:avLst/>
          </a:prstGeom>
          <a:solidFill>
            <a:srgbClr val="C8FF2E">
              <a:alpha val="28000"/>
            </a:srgbClr>
          </a:solidFill>
          <a:ln w="12700">
            <a:solidFill>
              <a:srgbClr val="C8FF2E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9454896" y="3895344"/>
            <a:ext cx="566928" cy="420624"/>
          </a:xfrm>
          <a:prstGeom prst="rect">
            <a:avLst/>
          </a:prstGeom>
          <a:solidFill>
            <a:srgbClr val="C8FF2E">
              <a:alpha val="28000"/>
            </a:srgbClr>
          </a:solidFill>
          <a:ln w="12700">
            <a:solidFill>
              <a:srgbClr val="C8FF2E"/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10122408" y="3895344"/>
            <a:ext cx="566928" cy="420624"/>
          </a:xfrm>
          <a:prstGeom prst="rect">
            <a:avLst/>
          </a:prstGeom>
          <a:solidFill>
            <a:srgbClr val="C8FF2E">
              <a:alpha val="28000"/>
            </a:srgbClr>
          </a:solidFill>
          <a:ln w="12700">
            <a:solidFill>
              <a:srgbClr val="C8FF2E"/>
            </a:solidFill>
            <a:prstDash val="solid"/>
          </a:ln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10789920" y="3895344"/>
            <a:ext cx="566928" cy="420624"/>
          </a:xfrm>
          <a:prstGeom prst="rect">
            <a:avLst/>
          </a:prstGeom>
          <a:solidFill>
            <a:srgbClr val="C8FF2E">
              <a:alpha val="28000"/>
            </a:srgbClr>
          </a:solidFill>
          <a:ln w="12700">
            <a:solidFill>
              <a:srgbClr val="C8FF2E"/>
            </a:solidFill>
            <a:prstDash val="solid"/>
          </a:ln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7452360" y="1481328"/>
            <a:ext cx="1783080" cy="566928"/>
          </a:xfrm>
          <a:prstGeom prst="roundRect">
            <a:avLst>
              <a:gd name="adj" fmla="val 12903"/>
            </a:avLst>
          </a:prstGeom>
          <a:solidFill>
            <a:srgbClr val="FF6B4A"/>
          </a:solidFill>
          <a:ln/>
        </p:spPr>
        <p:txBody>
          <a:bodyPr/>
          <a:p/>
        </p:txBody>
      </p:sp>
      <p:sp>
        <p:nvSpPr>
          <p:cNvPr id="41" name="Text 39"/>
          <p:cNvSpPr txBox="1"/>
          <p:nvPr/>
        </p:nvSpPr>
        <p:spPr>
          <a:xfrm>
            <a:off x="7452360" y="1481328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spc="200" kern="0" dirty="0">
                <a:solidFill>
                  <a:srgbClr val="1A0E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LOT FULL</a:t>
            </a:r>
            <a:endParaRPr lang="en-US" sz="1700" dirty="0"/>
          </a:p>
        </p:txBody>
      </p:sp>
      <p:sp>
        <p:nvSpPr>
          <p:cNvPr id="42" name="Text 40"/>
          <p:cNvSpPr txBox="1"/>
          <p:nvPr/>
        </p:nvSpPr>
        <p:spPr>
          <a:xfrm>
            <a:off x="7452360" y="461772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i="1" dirty="0">
                <a:solidFill>
                  <a:srgbClr val="8A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data can be used to estimate occupancy for a given location and time.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548640"/>
            <a:ext cx="457200" cy="457200"/>
          </a:xfrm>
          <a:prstGeom prst="roundRect">
            <a:avLst>
              <a:gd name="adj" fmla="val 32000"/>
            </a:avLst>
          </a:prstGeom>
          <a:solidFill>
            <a:srgbClr val="C8FF2E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777240" y="548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435608" y="548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8F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·  ABSTRACT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298448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140"/>
              </a:lnSpc>
              <a:buNone/>
            </a:pPr>
            <a:r>
              <a:rPr lang="en-US" sz="3600" b="1" spc="-50" kern="0" dirty="0">
                <a:solidFill>
                  <a:srgbClr val="F2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PROJECT IN THREE MOVEMENTS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777240" y="2212848"/>
            <a:ext cx="10607040" cy="1152144"/>
          </a:xfrm>
          <a:prstGeom prst="rect">
            <a:avLst/>
          </a:prstGeom>
          <a:solidFill>
            <a:srgbClr val="1A2029"/>
          </a:solidFill>
          <a:ln/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1051560" y="2212848"/>
            <a:ext cx="105156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2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2194560" y="2212848"/>
            <a:ext cx="228600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50" kern="0" dirty="0">
                <a:solidFill>
                  <a:srgbClr val="F2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0" y="2395728"/>
            <a:ext cx="0" cy="786384"/>
          </a:xfrm>
          <a:prstGeom prst="line">
            <a:avLst/>
          </a:prstGeom>
          <a:noFill/>
          <a:ln w="19050">
            <a:solidFill>
              <a:srgbClr val="2A334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4864608" y="2212848"/>
            <a:ext cx="630936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C6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machine learning model that predicts parking occupancy using historical parking data.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3511296"/>
            <a:ext cx="105156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8F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2194560" y="3511296"/>
            <a:ext cx="228600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50" kern="0" dirty="0">
                <a:solidFill>
                  <a:srgbClr val="F2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&amp; METHOD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72000" y="3694176"/>
            <a:ext cx="0" cy="786384"/>
          </a:xfrm>
          <a:prstGeom prst="line">
            <a:avLst/>
          </a:prstGeom>
          <a:noFill/>
          <a:ln w="19050">
            <a:solidFill>
              <a:srgbClr val="C8FF2E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4864608" y="3511296"/>
            <a:ext cx="630936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C6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Birmingham parking dataset contains parking location, capacity, occupancy, and date/time. The data is cleaned, the hour is extracted from the timestamp, and Elastic Net Regression is used for prediction.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777240" y="4809744"/>
            <a:ext cx="10607040" cy="1152144"/>
          </a:xfrm>
          <a:prstGeom prst="rect">
            <a:avLst/>
          </a:prstGeom>
          <a:solidFill>
            <a:srgbClr val="1A2029"/>
          </a:solidFill>
          <a:ln/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1051560" y="4809744"/>
            <a:ext cx="105156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2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4000" dirty="0"/>
          </a:p>
        </p:txBody>
      </p:sp>
      <p:sp>
        <p:nvSpPr>
          <p:cNvPr id="17" name="Text 15"/>
          <p:cNvSpPr txBox="1"/>
          <p:nvPr/>
        </p:nvSpPr>
        <p:spPr>
          <a:xfrm>
            <a:off x="2194560" y="4809744"/>
            <a:ext cx="228600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50" kern="0" dirty="0">
                <a:solidFill>
                  <a:srgbClr val="F2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572000" y="4992624"/>
            <a:ext cx="0" cy="786384"/>
          </a:xfrm>
          <a:prstGeom prst="line">
            <a:avLst/>
          </a:prstGeom>
          <a:noFill/>
          <a:ln w="19050">
            <a:solidFill>
              <a:srgbClr val="2A3340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 txBox="1"/>
          <p:nvPr/>
        </p:nvSpPr>
        <p:spPr>
          <a:xfrm>
            <a:off x="4864608" y="4809744"/>
            <a:ext cx="630936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C6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predicts occupancy for a parking location and hour. Performance is evaluated using MAE, RMSE and R².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822960" y="6172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A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applied to parking occupancy prediction.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548640"/>
            <a:ext cx="457200" cy="457200"/>
          </a:xfrm>
          <a:prstGeom prst="roundRect">
            <a:avLst>
              <a:gd name="adj" fmla="val 32000"/>
            </a:avLst>
          </a:prstGeom>
          <a:solidFill>
            <a:srgbClr val="C8FF2E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777240" y="548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435608" y="548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8F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·  EXISTING SYSTEM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298448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910"/>
              </a:lnSpc>
              <a:buNone/>
            </a:pPr>
            <a:r>
              <a:rPr lang="en-US" sz="3400" b="1" spc="-50" kern="0" dirty="0">
                <a:solidFill>
                  <a:srgbClr val="F2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THE PARKING PREDICTION PROBLEM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02996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observation describes parking conditions, while this project uses historical data to predict occupancy.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3794760"/>
            <a:ext cx="10561320" cy="0"/>
          </a:xfrm>
          <a:prstGeom prst="line">
            <a:avLst/>
          </a:prstGeom>
          <a:noFill/>
          <a:ln w="19050">
            <a:solidFill>
              <a:srgbClr val="2A3340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822960" y="2615184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80" kern="0" dirty="0">
                <a:solidFill>
                  <a:srgbClr val="F2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LOGS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962656"/>
            <a:ext cx="2487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8A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parking records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68680" y="3621024"/>
            <a:ext cx="347472" cy="347472"/>
          </a:xfrm>
          <a:prstGeom prst="ellipse">
            <a:avLst/>
          </a:prstGeom>
          <a:solidFill>
            <a:srgbClr val="12161C"/>
          </a:solidFill>
          <a:ln w="25400">
            <a:solidFill>
              <a:srgbClr val="C8FF2E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868680" y="36210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F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4261104"/>
            <a:ext cx="173736" cy="173736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1115568" y="4187952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provide historical information that can be analysed for patterns.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3502152" y="2615184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80" kern="0" dirty="0">
                <a:solidFill>
                  <a:srgbClr val="F2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SENSORS &amp; DISPLAYS</a:t>
            </a:r>
            <a:endParaRPr lang="en-US" sz="1350" dirty="0"/>
          </a:p>
        </p:txBody>
      </p:sp>
      <p:sp>
        <p:nvSpPr>
          <p:cNvPr id="15" name="Text 12"/>
          <p:cNvSpPr txBox="1"/>
          <p:nvPr/>
        </p:nvSpPr>
        <p:spPr>
          <a:xfrm>
            <a:off x="3502152" y="2962656"/>
            <a:ext cx="2487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8A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Parking occupancy measurements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3547872" y="3621024"/>
            <a:ext cx="347472" cy="347472"/>
          </a:xfrm>
          <a:prstGeom prst="ellipse">
            <a:avLst/>
          </a:prstGeom>
          <a:solidFill>
            <a:srgbClr val="12161C"/>
          </a:solidFill>
          <a:ln w="25400">
            <a:solidFill>
              <a:srgbClr val="C8FF2E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 txBox="1"/>
          <p:nvPr/>
        </p:nvSpPr>
        <p:spPr>
          <a:xfrm>
            <a:off x="3547872" y="36210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F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2152" y="4261104"/>
            <a:ext cx="173736" cy="173736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3794760" y="4187952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Occupancy records show the parking condition at recorded times.</a:t>
            </a:r>
            <a:endParaRPr lang="en-US" sz="1250" dirty="0"/>
          </a:p>
        </p:txBody>
      </p:sp>
      <p:sp>
        <p:nvSpPr>
          <p:cNvPr id="20" name="Text 16"/>
          <p:cNvSpPr txBox="1"/>
          <p:nvPr/>
        </p:nvSpPr>
        <p:spPr>
          <a:xfrm>
            <a:off x="6181344" y="2615184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80" kern="0" dirty="0">
                <a:solidFill>
                  <a:srgbClr val="F2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RULES</a:t>
            </a:r>
            <a:endParaRPr lang="en-US" sz="1350" dirty="0"/>
          </a:p>
        </p:txBody>
      </p:sp>
      <p:sp>
        <p:nvSpPr>
          <p:cNvPr id="21" name="Text 17"/>
          <p:cNvSpPr txBox="1"/>
          <p:nvPr/>
        </p:nvSpPr>
        <p:spPr>
          <a:xfrm>
            <a:off x="6181344" y="2962656"/>
            <a:ext cx="2487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8A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parking information</a:t>
            </a:r>
            <a:endParaRPr lang="en-US" sz="1250" dirty="0"/>
          </a:p>
        </p:txBody>
      </p:sp>
      <p:sp>
        <p:nvSpPr>
          <p:cNvPr id="22" name="Shape 18"/>
          <p:cNvSpPr/>
          <p:nvPr/>
        </p:nvSpPr>
        <p:spPr>
          <a:xfrm>
            <a:off x="6227064" y="3621024"/>
            <a:ext cx="347472" cy="347472"/>
          </a:xfrm>
          <a:prstGeom prst="ellipse">
            <a:avLst/>
          </a:prstGeom>
          <a:solidFill>
            <a:srgbClr val="12161C"/>
          </a:solidFill>
          <a:ln w="25400">
            <a:solidFill>
              <a:srgbClr val="C8FF2E"/>
            </a:solidFill>
            <a:prstDash val="solid"/>
          </a:ln>
        </p:spPr>
        <p:txBody>
          <a:bodyPr/>
          <a:p/>
        </p:txBody>
      </p:sp>
      <p:sp>
        <p:nvSpPr>
          <p:cNvPr id="23" name="Text 19"/>
          <p:cNvSpPr txBox="1"/>
          <p:nvPr/>
        </p:nvSpPr>
        <p:spPr>
          <a:xfrm>
            <a:off x="6227064" y="36210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F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1344" y="4261104"/>
            <a:ext cx="173736" cy="173736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6473952" y="4187952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information does not directly predict future occupancy.</a:t>
            </a:r>
            <a:endParaRPr lang="en-US" sz="1250" dirty="0"/>
          </a:p>
        </p:txBody>
      </p:sp>
      <p:sp>
        <p:nvSpPr>
          <p:cNvPr id="26" name="Text 21"/>
          <p:cNvSpPr txBox="1"/>
          <p:nvPr/>
        </p:nvSpPr>
        <p:spPr>
          <a:xfrm>
            <a:off x="8860536" y="2615184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80" kern="0" dirty="0">
                <a:solidFill>
                  <a:srgbClr val="F2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REGRESSION</a:t>
            </a:r>
            <a:endParaRPr lang="en-US" sz="1350" dirty="0"/>
          </a:p>
        </p:txBody>
      </p:sp>
      <p:sp>
        <p:nvSpPr>
          <p:cNvPr id="27" name="Text 22"/>
          <p:cNvSpPr txBox="1"/>
          <p:nvPr/>
        </p:nvSpPr>
        <p:spPr>
          <a:xfrm>
            <a:off x="8860536" y="2962656"/>
            <a:ext cx="2487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8A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Regression-based prediction</a:t>
            </a:r>
            <a:endParaRPr lang="en-US" sz="1250" dirty="0"/>
          </a:p>
        </p:txBody>
      </p:sp>
      <p:sp>
        <p:nvSpPr>
          <p:cNvPr id="28" name="Shape 23"/>
          <p:cNvSpPr/>
          <p:nvPr/>
        </p:nvSpPr>
        <p:spPr>
          <a:xfrm>
            <a:off x="8906256" y="3621024"/>
            <a:ext cx="347472" cy="347472"/>
          </a:xfrm>
          <a:prstGeom prst="ellipse">
            <a:avLst/>
          </a:prstGeom>
          <a:solidFill>
            <a:srgbClr val="12161C"/>
          </a:solidFill>
          <a:ln w="25400">
            <a:solidFill>
              <a:srgbClr val="C8FF2E"/>
            </a:solidFill>
            <a:prstDash val="solid"/>
          </a:ln>
        </p:spPr>
        <p:txBody>
          <a:bodyPr/>
          <a:p/>
        </p:txBody>
      </p:sp>
      <p:sp>
        <p:nvSpPr>
          <p:cNvPr id="29" name="Text 24"/>
          <p:cNvSpPr txBox="1"/>
          <p:nvPr/>
        </p:nvSpPr>
        <p:spPr>
          <a:xfrm>
            <a:off x="8906256" y="36210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F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0536" y="4261104"/>
            <a:ext cx="173736" cy="173736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9153144" y="4187952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 Net combines L1 and L2 regularization to control coefficients and handle correlated features.</a:t>
            </a:r>
            <a:endParaRPr lang="en-US" sz="1250" dirty="0"/>
          </a:p>
        </p:txBody>
      </p:sp>
      <p:sp>
        <p:nvSpPr>
          <p:cNvPr id="32" name="Shape 26"/>
          <p:cNvSpPr/>
          <p:nvPr/>
        </p:nvSpPr>
        <p:spPr>
          <a:xfrm>
            <a:off x="777240" y="5715000"/>
            <a:ext cx="10607040" cy="731520"/>
          </a:xfrm>
          <a:prstGeom prst="rect">
            <a:avLst/>
          </a:prstGeom>
          <a:solidFill>
            <a:srgbClr val="1A2029"/>
          </a:solidFill>
          <a:ln/>
        </p:spPr>
        <p:txBody>
          <a:bodyPr/>
          <a:p/>
        </p:txBody>
      </p:sp>
      <p:sp>
        <p:nvSpPr>
          <p:cNvPr id="33" name="Shape 27"/>
          <p:cNvSpPr/>
          <p:nvPr/>
        </p:nvSpPr>
        <p:spPr>
          <a:xfrm>
            <a:off x="777240" y="5715000"/>
            <a:ext cx="64008" cy="731520"/>
          </a:xfrm>
          <a:prstGeom prst="rect">
            <a:avLst/>
          </a:prstGeom>
          <a:solidFill>
            <a:srgbClr val="C8FF2E"/>
          </a:solidFill>
          <a:ln/>
        </p:spPr>
        <p:txBody>
          <a:bodyPr/>
          <a:p/>
        </p:txBody>
      </p:sp>
      <p:sp>
        <p:nvSpPr>
          <p:cNvPr id="34" name="Text 28"/>
          <p:cNvSpPr txBox="1"/>
          <p:nvPr/>
        </p:nvSpPr>
        <p:spPr>
          <a:xfrm>
            <a:off x="1143000" y="57150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uses historical parking data to build a predictive model for occupancy.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548640"/>
            <a:ext cx="457200" cy="457200"/>
          </a:xfrm>
          <a:prstGeom prst="roundRect">
            <a:avLst>
              <a:gd name="adj" fmla="val 32000"/>
            </a:avLst>
          </a:prstGeom>
          <a:solidFill>
            <a:srgbClr val="C8FF2E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777240" y="548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435608" y="548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8F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·  PROPOSED SOLUTION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298448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140"/>
              </a:lnSpc>
              <a:buNone/>
            </a:pPr>
            <a:r>
              <a:rPr lang="en-US" sz="3600" b="1" spc="-50" kern="0" dirty="0">
                <a:solidFill>
                  <a:srgbClr val="F2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ROAD, FIVE STAGES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02996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parking history becomes a machine learning prediction.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77240" y="2606040"/>
            <a:ext cx="10607040" cy="960120"/>
          </a:xfrm>
          <a:prstGeom prst="rect">
            <a:avLst/>
          </a:prstGeom>
          <a:solidFill>
            <a:srgbClr val="1A2029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960120" y="3072384"/>
            <a:ext cx="274320" cy="41148"/>
          </a:xfrm>
          <a:prstGeom prst="rect">
            <a:avLst/>
          </a:prstGeom>
          <a:solidFill>
            <a:srgbClr val="C8FF2E">
              <a:alpha val="55000"/>
            </a:srgbClr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1444752" y="3072384"/>
            <a:ext cx="274320" cy="41148"/>
          </a:xfrm>
          <a:prstGeom prst="rect">
            <a:avLst/>
          </a:prstGeom>
          <a:solidFill>
            <a:srgbClr val="C8FF2E">
              <a:alpha val="55000"/>
            </a:srgbClr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1929384" y="3072384"/>
            <a:ext cx="274320" cy="41148"/>
          </a:xfrm>
          <a:prstGeom prst="rect">
            <a:avLst/>
          </a:prstGeom>
          <a:solidFill>
            <a:srgbClr val="C8FF2E">
              <a:alpha val="55000"/>
            </a:srgbClr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2414016" y="3072384"/>
            <a:ext cx="274320" cy="41148"/>
          </a:xfrm>
          <a:prstGeom prst="rect">
            <a:avLst/>
          </a:prstGeom>
          <a:solidFill>
            <a:srgbClr val="C8FF2E">
              <a:alpha val="55000"/>
            </a:srgbClr>
          </a:solidFill>
          <a:ln/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2898648" y="3072384"/>
            <a:ext cx="274320" cy="41148"/>
          </a:xfrm>
          <a:prstGeom prst="rect">
            <a:avLst/>
          </a:prstGeom>
          <a:solidFill>
            <a:srgbClr val="C8FF2E">
              <a:alpha val="55000"/>
            </a:srgbClr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3383280" y="3072384"/>
            <a:ext cx="274320" cy="41148"/>
          </a:xfrm>
          <a:prstGeom prst="rect">
            <a:avLst/>
          </a:prstGeom>
          <a:solidFill>
            <a:srgbClr val="C8FF2E">
              <a:alpha val="55000"/>
            </a:srgbClr>
          </a:solidFill>
          <a:ln/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3867912" y="3072384"/>
            <a:ext cx="274320" cy="41148"/>
          </a:xfrm>
          <a:prstGeom prst="rect">
            <a:avLst/>
          </a:prstGeom>
          <a:solidFill>
            <a:srgbClr val="C8FF2E">
              <a:alpha val="55000"/>
            </a:srgbClr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4352544" y="3072384"/>
            <a:ext cx="274320" cy="41148"/>
          </a:xfrm>
          <a:prstGeom prst="rect">
            <a:avLst/>
          </a:prstGeom>
          <a:solidFill>
            <a:srgbClr val="C8FF2E">
              <a:alpha val="55000"/>
            </a:srgbClr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4837176" y="3072384"/>
            <a:ext cx="274320" cy="41148"/>
          </a:xfrm>
          <a:prstGeom prst="rect">
            <a:avLst/>
          </a:prstGeom>
          <a:solidFill>
            <a:srgbClr val="C8FF2E">
              <a:alpha val="55000"/>
            </a:srgbClr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5321808" y="3072384"/>
            <a:ext cx="274320" cy="41148"/>
          </a:xfrm>
          <a:prstGeom prst="rect">
            <a:avLst/>
          </a:prstGeom>
          <a:solidFill>
            <a:srgbClr val="C8FF2E">
              <a:alpha val="55000"/>
            </a:srgbClr>
          </a:solidFill>
          <a:ln/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5806440" y="3072384"/>
            <a:ext cx="274320" cy="41148"/>
          </a:xfrm>
          <a:prstGeom prst="rect">
            <a:avLst/>
          </a:prstGeom>
          <a:solidFill>
            <a:srgbClr val="C8FF2E">
              <a:alpha val="55000"/>
            </a:srgbClr>
          </a:solidFill>
          <a:ln/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6291072" y="3072384"/>
            <a:ext cx="274320" cy="41148"/>
          </a:xfrm>
          <a:prstGeom prst="rect">
            <a:avLst/>
          </a:prstGeom>
          <a:solidFill>
            <a:srgbClr val="C8FF2E">
              <a:alpha val="55000"/>
            </a:srgbClr>
          </a:solidFill>
          <a:ln/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6775704" y="3072384"/>
            <a:ext cx="274320" cy="41148"/>
          </a:xfrm>
          <a:prstGeom prst="rect">
            <a:avLst/>
          </a:prstGeom>
          <a:solidFill>
            <a:srgbClr val="C8FF2E">
              <a:alpha val="55000"/>
            </a:srgbClr>
          </a:solidFill>
          <a:ln/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7260336" y="3072384"/>
            <a:ext cx="274320" cy="41148"/>
          </a:xfrm>
          <a:prstGeom prst="rect">
            <a:avLst/>
          </a:prstGeom>
          <a:solidFill>
            <a:srgbClr val="C8FF2E">
              <a:alpha val="55000"/>
            </a:srgbClr>
          </a:solidFill>
          <a:ln/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7744968" y="3072384"/>
            <a:ext cx="274320" cy="41148"/>
          </a:xfrm>
          <a:prstGeom prst="rect">
            <a:avLst/>
          </a:prstGeom>
          <a:solidFill>
            <a:srgbClr val="C8FF2E">
              <a:alpha val="55000"/>
            </a:srgbClr>
          </a:solidFill>
          <a:ln/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8229600" y="3072384"/>
            <a:ext cx="274320" cy="41148"/>
          </a:xfrm>
          <a:prstGeom prst="rect">
            <a:avLst/>
          </a:prstGeom>
          <a:solidFill>
            <a:srgbClr val="C8FF2E">
              <a:alpha val="55000"/>
            </a:srgbClr>
          </a:solidFill>
          <a:ln/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8714232" y="3072384"/>
            <a:ext cx="274320" cy="41148"/>
          </a:xfrm>
          <a:prstGeom prst="rect">
            <a:avLst/>
          </a:prstGeom>
          <a:solidFill>
            <a:srgbClr val="C8FF2E">
              <a:alpha val="55000"/>
            </a:srgbClr>
          </a:solidFill>
          <a:ln/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9198864" y="3072384"/>
            <a:ext cx="274320" cy="41148"/>
          </a:xfrm>
          <a:prstGeom prst="rect">
            <a:avLst/>
          </a:prstGeom>
          <a:solidFill>
            <a:srgbClr val="C8FF2E">
              <a:alpha val="55000"/>
            </a:srgbClr>
          </a:solidFill>
          <a:ln/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9683496" y="3072384"/>
            <a:ext cx="274320" cy="41148"/>
          </a:xfrm>
          <a:prstGeom prst="rect">
            <a:avLst/>
          </a:prstGeom>
          <a:solidFill>
            <a:srgbClr val="C8FF2E">
              <a:alpha val="55000"/>
            </a:srgbClr>
          </a:solidFill>
          <a:ln/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10168128" y="3072384"/>
            <a:ext cx="274320" cy="41148"/>
          </a:xfrm>
          <a:prstGeom prst="rect">
            <a:avLst/>
          </a:prstGeom>
          <a:solidFill>
            <a:srgbClr val="C8FF2E">
              <a:alpha val="55000"/>
            </a:srgbClr>
          </a:solidFill>
          <a:ln/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10652760" y="3072384"/>
            <a:ext cx="274320" cy="41148"/>
          </a:xfrm>
          <a:prstGeom prst="rect">
            <a:avLst/>
          </a:prstGeom>
          <a:solidFill>
            <a:srgbClr val="C8FF2E">
              <a:alpha val="55000"/>
            </a:srgbClr>
          </a:solidFill>
          <a:ln/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11137392" y="3072384"/>
            <a:ext cx="274320" cy="41148"/>
          </a:xfrm>
          <a:prstGeom prst="rect">
            <a:avLst/>
          </a:prstGeom>
          <a:solidFill>
            <a:srgbClr val="C8FF2E">
              <a:alpha val="55000"/>
            </a:srgbClr>
          </a:solidFill>
          <a:ln/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1458468" y="2788920"/>
            <a:ext cx="603504" cy="603504"/>
          </a:xfrm>
          <a:prstGeom prst="roundRect">
            <a:avLst>
              <a:gd name="adj" fmla="val 21212"/>
            </a:avLst>
          </a:prstGeom>
          <a:solidFill>
            <a:srgbClr val="C8FF2E"/>
          </a:solidFill>
          <a:ln/>
        </p:spPr>
        <p:txBody>
          <a:bodyPr/>
          <a:p/>
        </p:txBody>
      </p:sp>
      <p:pic>
        <p:nvPicPr>
          <p:cNvPr id="3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4772" y="2935224"/>
            <a:ext cx="310896" cy="310896"/>
          </a:xfrm>
          <a:prstGeom prst="rect">
            <a:avLst/>
          </a:prstGeom>
        </p:spPr>
      </p:pic>
      <p:sp>
        <p:nvSpPr>
          <p:cNvPr id="32" name="Text 29"/>
          <p:cNvSpPr txBox="1"/>
          <p:nvPr/>
        </p:nvSpPr>
        <p:spPr>
          <a:xfrm>
            <a:off x="1458468" y="3675888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8F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777240" y="4041648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50" b="1" spc="80" kern="0" dirty="0">
                <a:solidFill>
                  <a:srgbClr val="F2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COLLECTION</a:t>
            </a:r>
            <a:endParaRPr lang="en-US" sz="1250" dirty="0"/>
          </a:p>
        </p:txBody>
      </p:sp>
      <p:sp>
        <p:nvSpPr>
          <p:cNvPr id="34" name="Text 31"/>
          <p:cNvSpPr txBox="1"/>
          <p:nvPr/>
        </p:nvSpPr>
        <p:spPr>
          <a:xfrm>
            <a:off x="822960" y="4681728"/>
            <a:ext cx="1874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A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Parking location, capacity, occupancy and timestamp.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3664458" y="2788920"/>
            <a:ext cx="603504" cy="603504"/>
          </a:xfrm>
          <a:prstGeom prst="roundRect">
            <a:avLst>
              <a:gd name="adj" fmla="val 21212"/>
            </a:avLst>
          </a:prstGeom>
          <a:solidFill>
            <a:srgbClr val="C8FF2E"/>
          </a:solidFill>
          <a:ln/>
        </p:spPr>
        <p:txBody>
          <a:bodyPr/>
          <a:p/>
        </p:txBody>
      </p:sp>
      <p:pic>
        <p:nvPicPr>
          <p:cNvPr id="3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762" y="2935224"/>
            <a:ext cx="310896" cy="310896"/>
          </a:xfrm>
          <a:prstGeom prst="rect">
            <a:avLst/>
          </a:prstGeom>
        </p:spPr>
      </p:pic>
      <p:sp>
        <p:nvSpPr>
          <p:cNvPr id="37" name="Text 33"/>
          <p:cNvSpPr txBox="1"/>
          <p:nvPr/>
        </p:nvSpPr>
        <p:spPr>
          <a:xfrm>
            <a:off x="3664458" y="3675888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8F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38" name="Text 34"/>
          <p:cNvSpPr txBox="1"/>
          <p:nvPr/>
        </p:nvSpPr>
        <p:spPr>
          <a:xfrm>
            <a:off x="2983230" y="4041648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50" b="1" spc="80" kern="0" dirty="0">
                <a:solidFill>
                  <a:srgbClr val="F2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PREPROCESSING</a:t>
            </a:r>
            <a:endParaRPr lang="en-US" sz="1250" dirty="0"/>
          </a:p>
        </p:txBody>
      </p:sp>
      <p:sp>
        <p:nvSpPr>
          <p:cNvPr id="39" name="Text 35"/>
          <p:cNvSpPr txBox="1"/>
          <p:nvPr/>
        </p:nvSpPr>
        <p:spPr>
          <a:xfrm>
            <a:off x="3028950" y="4681728"/>
            <a:ext cx="1874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A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missing values and duplicates, and remove invalid negative occupancy records.</a:t>
            </a:r>
            <a:endParaRPr lang="en-US" sz="1200" dirty="0"/>
          </a:p>
        </p:txBody>
      </p:sp>
      <p:sp>
        <p:nvSpPr>
          <p:cNvPr id="40" name="Shape 36"/>
          <p:cNvSpPr/>
          <p:nvPr/>
        </p:nvSpPr>
        <p:spPr>
          <a:xfrm>
            <a:off x="5870448" y="2788920"/>
            <a:ext cx="603504" cy="603504"/>
          </a:xfrm>
          <a:prstGeom prst="roundRect">
            <a:avLst>
              <a:gd name="adj" fmla="val 21212"/>
            </a:avLst>
          </a:prstGeom>
          <a:solidFill>
            <a:srgbClr val="C8FF2E"/>
          </a:solidFill>
          <a:ln/>
        </p:spPr>
        <p:txBody>
          <a:bodyPr/>
          <a:p/>
        </p:txBody>
      </p:sp>
      <p:pic>
        <p:nvPicPr>
          <p:cNvPr id="4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6752" y="2935224"/>
            <a:ext cx="310896" cy="310896"/>
          </a:xfrm>
          <a:prstGeom prst="rect">
            <a:avLst/>
          </a:prstGeom>
        </p:spPr>
      </p:pic>
      <p:sp>
        <p:nvSpPr>
          <p:cNvPr id="42" name="Text 37"/>
          <p:cNvSpPr txBox="1"/>
          <p:nvPr/>
        </p:nvSpPr>
        <p:spPr>
          <a:xfrm>
            <a:off x="5870448" y="3675888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8F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43" name="Text 38"/>
          <p:cNvSpPr txBox="1"/>
          <p:nvPr/>
        </p:nvSpPr>
        <p:spPr>
          <a:xfrm>
            <a:off x="5189220" y="4041648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50" b="1" spc="80" kern="0" dirty="0">
                <a:solidFill>
                  <a:srgbClr val="F2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ENGINEERING</a:t>
            </a:r>
            <a:endParaRPr lang="en-US" sz="1250" dirty="0"/>
          </a:p>
        </p:txBody>
      </p:sp>
      <p:sp>
        <p:nvSpPr>
          <p:cNvPr id="44" name="Text 39"/>
          <p:cNvSpPr txBox="1"/>
          <p:nvPr/>
        </p:nvSpPr>
        <p:spPr>
          <a:xfrm>
            <a:off x="5234940" y="4681728"/>
            <a:ext cx="1874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A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the hour from LastUpdated and prepare categorical and numerical features.</a:t>
            </a:r>
            <a:endParaRPr lang="en-US" sz="1200" dirty="0"/>
          </a:p>
        </p:txBody>
      </p:sp>
      <p:sp>
        <p:nvSpPr>
          <p:cNvPr id="45" name="Shape 40"/>
          <p:cNvSpPr/>
          <p:nvPr/>
        </p:nvSpPr>
        <p:spPr>
          <a:xfrm>
            <a:off x="8076438" y="2788920"/>
            <a:ext cx="603504" cy="603504"/>
          </a:xfrm>
          <a:prstGeom prst="roundRect">
            <a:avLst>
              <a:gd name="adj" fmla="val 21212"/>
            </a:avLst>
          </a:prstGeom>
          <a:solidFill>
            <a:srgbClr val="C8FF2E"/>
          </a:solidFill>
          <a:ln/>
        </p:spPr>
        <p:txBody>
          <a:bodyPr/>
          <a:p/>
        </p:txBody>
      </p:sp>
      <p:pic>
        <p:nvPicPr>
          <p:cNvPr id="4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2742" y="2935224"/>
            <a:ext cx="310896" cy="310896"/>
          </a:xfrm>
          <a:prstGeom prst="rect">
            <a:avLst/>
          </a:prstGeom>
        </p:spPr>
      </p:pic>
      <p:sp>
        <p:nvSpPr>
          <p:cNvPr id="47" name="Text 41"/>
          <p:cNvSpPr txBox="1"/>
          <p:nvPr/>
        </p:nvSpPr>
        <p:spPr>
          <a:xfrm>
            <a:off x="8076438" y="3675888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8F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48" name="Text 42"/>
          <p:cNvSpPr txBox="1"/>
          <p:nvPr/>
        </p:nvSpPr>
        <p:spPr>
          <a:xfrm>
            <a:off x="7395210" y="4041648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50" b="1" spc="80" kern="0" dirty="0">
                <a:solidFill>
                  <a:srgbClr val="F2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ELASTIC NET MODEL</a:t>
            </a:r>
            <a:endParaRPr lang="en-US" sz="1250" dirty="0"/>
          </a:p>
        </p:txBody>
      </p:sp>
      <p:sp>
        <p:nvSpPr>
          <p:cNvPr id="49" name="Text 43"/>
          <p:cNvSpPr txBox="1"/>
          <p:nvPr/>
        </p:nvSpPr>
        <p:spPr>
          <a:xfrm>
            <a:off x="7440930" y="4681728"/>
            <a:ext cx="1874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A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 Net combines L1 and L2 regularization to control coefficients and handle correlated features.</a:t>
            </a:r>
            <a:endParaRPr lang="en-US" sz="1200" dirty="0"/>
          </a:p>
        </p:txBody>
      </p:sp>
      <p:sp>
        <p:nvSpPr>
          <p:cNvPr id="50" name="Shape 44"/>
          <p:cNvSpPr/>
          <p:nvPr/>
        </p:nvSpPr>
        <p:spPr>
          <a:xfrm>
            <a:off x="10282428" y="2788920"/>
            <a:ext cx="603504" cy="603504"/>
          </a:xfrm>
          <a:prstGeom prst="roundRect">
            <a:avLst>
              <a:gd name="adj" fmla="val 21212"/>
            </a:avLst>
          </a:prstGeom>
          <a:solidFill>
            <a:srgbClr val="C8FF2E"/>
          </a:solidFill>
          <a:ln/>
        </p:spPr>
        <p:txBody>
          <a:bodyPr/>
          <a:p/>
        </p:txBody>
      </p:sp>
      <p:pic>
        <p:nvPicPr>
          <p:cNvPr id="5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28732" y="2935224"/>
            <a:ext cx="310896" cy="310896"/>
          </a:xfrm>
          <a:prstGeom prst="rect">
            <a:avLst/>
          </a:prstGeom>
        </p:spPr>
      </p:pic>
      <p:sp>
        <p:nvSpPr>
          <p:cNvPr id="52" name="Text 45"/>
          <p:cNvSpPr txBox="1"/>
          <p:nvPr/>
        </p:nvSpPr>
        <p:spPr>
          <a:xfrm>
            <a:off x="10282428" y="3675888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8F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53" name="Text 46"/>
          <p:cNvSpPr txBox="1"/>
          <p:nvPr/>
        </p:nvSpPr>
        <p:spPr>
          <a:xfrm>
            <a:off x="9601200" y="4041648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50" b="1" spc="80" kern="0" dirty="0">
                <a:solidFill>
                  <a:srgbClr val="F2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 &amp; SCORE</a:t>
            </a:r>
            <a:endParaRPr lang="en-US" sz="1250" dirty="0"/>
          </a:p>
        </p:txBody>
      </p:sp>
      <p:sp>
        <p:nvSpPr>
          <p:cNvPr id="54" name="Text 47"/>
          <p:cNvSpPr txBox="1"/>
          <p:nvPr/>
        </p:nvSpPr>
        <p:spPr>
          <a:xfrm>
            <a:off x="9646920" y="4681728"/>
            <a:ext cx="1874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A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occupancy using location, capacity and hour; evaluate with MAE, RMSE and R².</a:t>
            </a:r>
            <a:endParaRPr lang="en-US" sz="1200" dirty="0"/>
          </a:p>
        </p:txBody>
      </p:sp>
      <p:sp>
        <p:nvSpPr>
          <p:cNvPr id="55" name="Shape 48"/>
          <p:cNvSpPr/>
          <p:nvPr/>
        </p:nvSpPr>
        <p:spPr>
          <a:xfrm>
            <a:off x="777240" y="5870448"/>
            <a:ext cx="10607040" cy="0"/>
          </a:xfrm>
          <a:prstGeom prst="line">
            <a:avLst/>
          </a:prstGeom>
          <a:noFill/>
          <a:ln w="12700">
            <a:solidFill>
              <a:srgbClr val="2A3340"/>
            </a:solidFill>
            <a:prstDash val="solid"/>
          </a:ln>
        </p:spPr>
        <p:txBody>
          <a:bodyPr/>
          <a:p/>
        </p:txBody>
      </p:sp>
      <p:sp>
        <p:nvSpPr>
          <p:cNvPr id="56" name="Text 49"/>
          <p:cNvSpPr txBox="1"/>
          <p:nvPr/>
        </p:nvSpPr>
        <p:spPr>
          <a:xfrm>
            <a:off x="822960" y="594360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C6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→ predicted parking occupancy that can help understand parking demand and support data-driven parking planning.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548640"/>
            <a:ext cx="457200" cy="457200"/>
          </a:xfrm>
          <a:prstGeom prst="roundRect">
            <a:avLst>
              <a:gd name="adj" fmla="val 32000"/>
            </a:avLst>
          </a:prstGeom>
          <a:solidFill>
            <a:srgbClr val="C8FF2E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777240" y="548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435608" y="548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8F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·  WHY ELASTIC NET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298448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140"/>
              </a:lnSpc>
              <a:buNone/>
            </a:pPr>
            <a:r>
              <a:rPr lang="en-US" sz="3600" b="1" spc="-50" kern="0" dirty="0">
                <a:solidFill>
                  <a:srgbClr val="F2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PENALTIES, ONE MODEL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1234440" y="2670048"/>
            <a:ext cx="2423160" cy="2423160"/>
          </a:xfrm>
          <a:prstGeom prst="ellipse">
            <a:avLst/>
          </a:prstGeom>
          <a:solidFill>
            <a:srgbClr val="C8FF2E">
              <a:alpha val="12000"/>
            </a:srgbClr>
          </a:solidFill>
          <a:ln w="25400">
            <a:solidFill>
              <a:srgbClr val="C8FF2E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2651760" y="2670048"/>
            <a:ext cx="2423160" cy="2423160"/>
          </a:xfrm>
          <a:prstGeom prst="ellipse">
            <a:avLst/>
          </a:prstGeom>
          <a:solidFill>
            <a:srgbClr val="F2F4F6">
              <a:alpha val="10000"/>
            </a:srgbClr>
          </a:solidFill>
          <a:ln w="25400">
            <a:solidFill>
              <a:srgbClr val="F2F4F6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1435608" y="3630168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8F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3950208" y="3630168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2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2606040" y="3538728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2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ELASTIC</a:t>
            </a:r>
            <a:endParaRPr lang="en-US" sz="13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2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228600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C8F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LASSO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651760" y="5202936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2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RIDGE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35040" y="2286000"/>
            <a:ext cx="54864" cy="1005840"/>
          </a:xfrm>
          <a:prstGeom prst="rect">
            <a:avLst/>
          </a:prstGeom>
          <a:solidFill>
            <a:srgbClr val="C8FF2E"/>
          </a:solidFill>
          <a:ln/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6355080" y="22860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100" kern="0" dirty="0">
                <a:solidFill>
                  <a:srgbClr val="C8F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LASSO (L1) SELECTS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6355080" y="2596896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6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Shrinks weak coefficients to exactly zero, so irrelevant features drop out on their own — but when several useful features are correlated it keeps one and discards the rest.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035040" y="3520440"/>
            <a:ext cx="54864" cy="1005840"/>
          </a:xfrm>
          <a:prstGeom prst="rect">
            <a:avLst/>
          </a:prstGeom>
          <a:solidFill>
            <a:srgbClr val="F2F4F6"/>
          </a:solidFill>
          <a:ln/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6355080" y="35204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100" kern="0" dirty="0">
                <a:solidFill>
                  <a:srgbClr val="F2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RIDGE (L2) STABILISES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6355080" y="3831336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6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Shrinks coefficients smoothly, holding correlated predictors together and controlling variance — but it never removes a feature, so the model stays large.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035040" y="4754880"/>
            <a:ext cx="54864" cy="1005840"/>
          </a:xfrm>
          <a:prstGeom prst="rect">
            <a:avLst/>
          </a:prstGeom>
          <a:solidFill>
            <a:srgbClr val="C8FF2E"/>
          </a:solidFill>
          <a:ln/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6355080" y="47548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100" kern="0" dirty="0">
                <a:solidFill>
                  <a:srgbClr val="C8F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ELASTIC NET DOES BOTH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6355080" y="5065776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6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Selects the features that matter while handling groups of correlated variables gracefully. Parking features such as location, capacity and time can have related patterns, making regularization useful.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77240" y="5943600"/>
            <a:ext cx="10607040" cy="594360"/>
          </a:xfrm>
          <a:prstGeom prst="rect">
            <a:avLst/>
          </a:prstGeom>
          <a:solidFill>
            <a:srgbClr val="1A2029"/>
          </a:solidFill>
          <a:ln/>
        </p:spPr>
        <p:txBody>
          <a:bodyPr/>
          <a:p/>
        </p:txBody>
      </p:sp>
      <p:sp>
        <p:nvSpPr>
          <p:cNvPr id="23" name="Text 21"/>
          <p:cNvSpPr txBox="1"/>
          <p:nvPr/>
        </p:nvSpPr>
        <p:spPr>
          <a:xfrm>
            <a:off x="1051560" y="594360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F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  </a:t>
            </a:r>
            <a:pPr indent="0" marL="0">
              <a:buNone/>
            </a:pPr>
            <a:r>
              <a:rPr lang="en-US" sz="1400" dirty="0">
                <a:solidFill>
                  <a:srgbClr val="C6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minimise  RSS  +  λ₁ Σ|βⱼ|  +  λ₂ Σβⱼ²      the mixing ratio is tuned by cross-validation.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548640"/>
            <a:ext cx="457200" cy="457200"/>
          </a:xfrm>
          <a:prstGeom prst="roundRect">
            <a:avLst>
              <a:gd name="adj" fmla="val 32000"/>
            </a:avLst>
          </a:prstGeom>
          <a:solidFill>
            <a:srgbClr val="C8FF2E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777240" y="548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435608" y="548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8F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·  EVALUATION &amp; IMPACT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298448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140"/>
              </a:lnSpc>
              <a:buNone/>
            </a:pPr>
            <a:r>
              <a:rPr lang="en-US" sz="3600" b="1" spc="-50" kern="0" dirty="0">
                <a:solidFill>
                  <a:srgbClr val="F2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MEASURE SUCCESS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58568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8F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MAE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99008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2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 Absolute Error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300984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8A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size of the miss, in parking spaces.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096512" y="2331720"/>
            <a:ext cx="0" cy="1371600"/>
          </a:xfrm>
          <a:prstGeom prst="line">
            <a:avLst/>
          </a:prstGeom>
          <a:noFill/>
          <a:ln w="12700">
            <a:solidFill>
              <a:srgbClr val="2A334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4480560" y="2258568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8F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RMSE</a:t>
            </a:r>
            <a:endParaRPr lang="en-US" sz="4400" dirty="0"/>
          </a:p>
        </p:txBody>
      </p:sp>
      <p:sp>
        <p:nvSpPr>
          <p:cNvPr id="11" name="Text 9"/>
          <p:cNvSpPr txBox="1"/>
          <p:nvPr/>
        </p:nvSpPr>
        <p:spPr>
          <a:xfrm>
            <a:off x="4480560" y="299008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2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 Mean Square Error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480560" y="3300984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8A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Penalises the large misses that hurt planning most.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754112" y="2331720"/>
            <a:ext cx="0" cy="1371600"/>
          </a:xfrm>
          <a:prstGeom prst="line">
            <a:avLst/>
          </a:prstGeom>
          <a:noFill/>
          <a:ln w="12700">
            <a:solidFill>
              <a:srgbClr val="2A3340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8138160" y="2258568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8F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R²</a:t>
            </a:r>
            <a:endParaRPr lang="en-US" sz="4400" dirty="0"/>
          </a:p>
        </p:txBody>
      </p:sp>
      <p:sp>
        <p:nvSpPr>
          <p:cNvPr id="15" name="Text 13"/>
          <p:cNvSpPr txBox="1"/>
          <p:nvPr/>
        </p:nvSpPr>
        <p:spPr>
          <a:xfrm>
            <a:off x="8138160" y="299008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2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Goodness of fit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138160" y="3300984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8A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variation in occupancy is explained by the model.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77240" y="4005072"/>
            <a:ext cx="10607040" cy="0"/>
          </a:xfrm>
          <a:prstGeom prst="line">
            <a:avLst/>
          </a:prstGeom>
          <a:noFill/>
          <a:ln w="12700">
            <a:solidFill>
              <a:srgbClr val="2A3340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 txBox="1"/>
          <p:nvPr/>
        </p:nvSpPr>
        <p:spPr>
          <a:xfrm>
            <a:off x="822960" y="41605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APPROACH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41248" y="4754880"/>
            <a:ext cx="182880" cy="45720"/>
          </a:xfrm>
          <a:prstGeom prst="rect">
            <a:avLst/>
          </a:prstGeom>
          <a:solidFill>
            <a:srgbClr val="2A3340"/>
          </a:solidFill>
          <a:ln/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1207008" y="461772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6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Train/test split is used to train the model and evaluate it on unseen records.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41248" y="5230368"/>
            <a:ext cx="182880" cy="45720"/>
          </a:xfrm>
          <a:prstGeom prst="rect">
            <a:avLst/>
          </a:prstGeom>
          <a:solidFill>
            <a:srgbClr val="2A3340"/>
          </a:solidFill>
          <a:ln/>
        </p:spPr>
        <p:txBody>
          <a:bodyPr/>
          <a:p/>
        </p:txBody>
      </p:sp>
      <p:sp>
        <p:nvSpPr>
          <p:cNvPr id="22" name="Text 20"/>
          <p:cNvSpPr txBox="1"/>
          <p:nvPr/>
        </p:nvSpPr>
        <p:spPr>
          <a:xfrm>
            <a:off x="1207008" y="509320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6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 Net uses L1 and L2 regularization, with its parameters selected for model performance.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41248" y="5705856"/>
            <a:ext cx="182880" cy="45720"/>
          </a:xfrm>
          <a:prstGeom prst="rect">
            <a:avLst/>
          </a:prstGeom>
          <a:solidFill>
            <a:srgbClr val="2A3340"/>
          </a:solidFill>
          <a:ln/>
        </p:spPr>
        <p:txBody>
          <a:bodyPr/>
          <a:p/>
        </p:txBody>
      </p:sp>
      <p:sp>
        <p:nvSpPr>
          <p:cNvPr id="24" name="Text 22"/>
          <p:cNvSpPr txBox="1"/>
          <p:nvPr/>
        </p:nvSpPr>
        <p:spPr>
          <a:xfrm>
            <a:off x="1207008" y="5568696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6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 is evaluated using MAE, RMSE and R².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41248" y="6181344"/>
            <a:ext cx="182880" cy="45720"/>
          </a:xfrm>
          <a:prstGeom prst="rect">
            <a:avLst/>
          </a:prstGeom>
          <a:solidFill>
            <a:srgbClr val="2A3340"/>
          </a:solidFill>
          <a:ln/>
        </p:spPr>
        <p:txBody>
          <a:bodyPr/>
          <a:p/>
        </p:txBody>
      </p:sp>
      <p:sp>
        <p:nvSpPr>
          <p:cNvPr id="26" name="Text 24"/>
          <p:cNvSpPr txBox="1"/>
          <p:nvPr/>
        </p:nvSpPr>
        <p:spPr>
          <a:xfrm>
            <a:off x="1207008" y="6044184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6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results are analysed using actual and predicted occupancy values.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309360" y="41605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F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IMPACT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327648" y="4754880"/>
            <a:ext cx="182880" cy="45720"/>
          </a:xfrm>
          <a:prstGeom prst="rect">
            <a:avLst/>
          </a:prstGeom>
          <a:solidFill>
            <a:srgbClr val="C8FF2E"/>
          </a:solidFill>
          <a:ln/>
        </p:spPr>
        <p:txBody>
          <a:bodyPr/>
          <a:p/>
        </p:txBody>
      </p:sp>
      <p:sp>
        <p:nvSpPr>
          <p:cNvPr id="29" name="Text 27"/>
          <p:cNvSpPr txBox="1"/>
          <p:nvPr/>
        </p:nvSpPr>
        <p:spPr>
          <a:xfrm>
            <a:off x="6693408" y="461772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6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understanding of parking occupancy patterns.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327648" y="5230368"/>
            <a:ext cx="182880" cy="45720"/>
          </a:xfrm>
          <a:prstGeom prst="rect">
            <a:avLst/>
          </a:prstGeom>
          <a:solidFill>
            <a:srgbClr val="C8FF2E"/>
          </a:solidFill>
          <a:ln/>
        </p:spPr>
        <p:txBody>
          <a:bodyPr/>
          <a:p/>
        </p:txBody>
      </p:sp>
      <p:sp>
        <p:nvSpPr>
          <p:cNvPr id="31" name="Text 29"/>
          <p:cNvSpPr txBox="1"/>
          <p:nvPr/>
        </p:nvSpPr>
        <p:spPr>
          <a:xfrm>
            <a:off x="6693408" y="509320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6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prediction of parking demand.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327648" y="5705856"/>
            <a:ext cx="182880" cy="45720"/>
          </a:xfrm>
          <a:prstGeom prst="rect">
            <a:avLst/>
          </a:prstGeom>
          <a:solidFill>
            <a:srgbClr val="C8FF2E"/>
          </a:solidFill>
          <a:ln/>
        </p:spPr>
        <p:txBody>
          <a:bodyPr/>
          <a:p/>
        </p:txBody>
      </p:sp>
      <p:sp>
        <p:nvSpPr>
          <p:cNvPr id="33" name="Text 31"/>
          <p:cNvSpPr txBox="1"/>
          <p:nvPr/>
        </p:nvSpPr>
        <p:spPr>
          <a:xfrm>
            <a:off x="6693408" y="5568696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6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support for parking planning.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327648" y="6181344"/>
            <a:ext cx="182880" cy="45720"/>
          </a:xfrm>
          <a:prstGeom prst="rect">
            <a:avLst/>
          </a:prstGeom>
          <a:solidFill>
            <a:srgbClr val="C8FF2E"/>
          </a:solidFill>
          <a:ln/>
        </p:spPr>
        <p:txBody>
          <a:bodyPr/>
          <a:p/>
        </p:txBody>
      </p:sp>
      <p:sp>
        <p:nvSpPr>
          <p:cNvPr id="35" name="Text 33"/>
          <p:cNvSpPr txBox="1"/>
          <p:nvPr/>
        </p:nvSpPr>
        <p:spPr>
          <a:xfrm>
            <a:off x="6693408" y="6044184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6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machine learning approach for estimating parking occupancy.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548640"/>
            <a:ext cx="457200" cy="457200"/>
          </a:xfrm>
          <a:prstGeom prst="roundRect">
            <a:avLst>
              <a:gd name="adj" fmla="val 32000"/>
            </a:avLst>
          </a:prstGeom>
          <a:solidFill>
            <a:srgbClr val="C8FF2E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777240" y="548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435608" y="548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8F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  ·  QUESTIONS WELCOME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10312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980"/>
              </a:lnSpc>
              <a:buNone/>
            </a:pPr>
            <a:r>
              <a:rPr lang="en-US" sz="5200" b="1" spc="-50" kern="0" dirty="0">
                <a:solidFill>
                  <a:srgbClr val="F2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SMARTER PARKING,</a:t>
            </a:r>
            <a:endParaRPr lang="en-US" sz="52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97180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spc="-50" kern="0" dirty="0">
                <a:solidFill>
                  <a:srgbClr val="C8F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SMOOTHER CITIES.</a:t>
            </a:r>
            <a:endParaRPr lang="en-US" sz="5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02336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8A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 Net Regression turns historical parking data into occupancy predictions.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8920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Nuguri Siri (2520030309)   ·   S. Manvi Vaishnavi (2520030326)   ·   Guide: Shaik Asif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74320" y="5577840"/>
            <a:ext cx="749808" cy="1280160"/>
          </a:xfrm>
          <a:prstGeom prst="rect">
            <a:avLst/>
          </a:prstGeom>
          <a:solidFill>
            <a:srgbClr val="12161C">
              <a:alpha val="0"/>
            </a:srgbClr>
          </a:solidFill>
          <a:ln w="15875">
            <a:solidFill>
              <a:srgbClr val="2A3340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1143000" y="5577840"/>
            <a:ext cx="749808" cy="1280160"/>
          </a:xfrm>
          <a:prstGeom prst="rect">
            <a:avLst/>
          </a:prstGeom>
          <a:solidFill>
            <a:srgbClr val="12161C">
              <a:alpha val="0"/>
            </a:srgbClr>
          </a:solidFill>
          <a:ln w="15875">
            <a:solidFill>
              <a:srgbClr val="2A3340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2011680" y="5577840"/>
            <a:ext cx="749808" cy="1280160"/>
          </a:xfrm>
          <a:prstGeom prst="rect">
            <a:avLst/>
          </a:prstGeom>
          <a:solidFill>
            <a:srgbClr val="12161C">
              <a:alpha val="0"/>
            </a:srgbClr>
          </a:solidFill>
          <a:ln w="15875">
            <a:solidFill>
              <a:srgbClr val="2A3340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2880360" y="5577840"/>
            <a:ext cx="749808" cy="1280160"/>
          </a:xfrm>
          <a:prstGeom prst="rect">
            <a:avLst/>
          </a:prstGeom>
          <a:solidFill>
            <a:srgbClr val="12161C">
              <a:alpha val="0"/>
            </a:srgbClr>
          </a:solidFill>
          <a:ln w="15875">
            <a:solidFill>
              <a:srgbClr val="2A3340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3749040" y="5577840"/>
            <a:ext cx="749808" cy="1280160"/>
          </a:xfrm>
          <a:prstGeom prst="rect">
            <a:avLst/>
          </a:prstGeom>
          <a:solidFill>
            <a:srgbClr val="12161C">
              <a:alpha val="0"/>
            </a:srgbClr>
          </a:solidFill>
          <a:ln w="15875">
            <a:solidFill>
              <a:srgbClr val="2A3340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4617720" y="5577840"/>
            <a:ext cx="749808" cy="1280160"/>
          </a:xfrm>
          <a:prstGeom prst="rect">
            <a:avLst/>
          </a:prstGeom>
          <a:solidFill>
            <a:srgbClr val="12161C">
              <a:alpha val="0"/>
            </a:srgbClr>
          </a:solidFill>
          <a:ln w="15875">
            <a:solidFill>
              <a:srgbClr val="2A3340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5486400" y="5577840"/>
            <a:ext cx="749808" cy="1280160"/>
          </a:xfrm>
          <a:prstGeom prst="rect">
            <a:avLst/>
          </a:prstGeom>
          <a:solidFill>
            <a:srgbClr val="12161C">
              <a:alpha val="0"/>
            </a:srgbClr>
          </a:solidFill>
          <a:ln w="15875">
            <a:solidFill>
              <a:srgbClr val="2A3340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6355080" y="5577840"/>
            <a:ext cx="749808" cy="1280160"/>
          </a:xfrm>
          <a:prstGeom prst="rect">
            <a:avLst/>
          </a:prstGeom>
          <a:solidFill>
            <a:srgbClr val="12161C">
              <a:alpha val="0"/>
            </a:srgbClr>
          </a:solidFill>
          <a:ln w="15875">
            <a:solidFill>
              <a:srgbClr val="2A3340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7223760" y="5577840"/>
            <a:ext cx="749808" cy="1280160"/>
          </a:xfrm>
          <a:prstGeom prst="rect">
            <a:avLst/>
          </a:prstGeom>
          <a:solidFill>
            <a:srgbClr val="12161C">
              <a:alpha val="0"/>
            </a:srgbClr>
          </a:solidFill>
          <a:ln w="15875">
            <a:solidFill>
              <a:srgbClr val="2A3340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8092440" y="5577840"/>
            <a:ext cx="749808" cy="1280160"/>
          </a:xfrm>
          <a:prstGeom prst="rect">
            <a:avLst/>
          </a:prstGeom>
          <a:solidFill>
            <a:srgbClr val="12161C">
              <a:alpha val="0"/>
            </a:srgbClr>
          </a:solidFill>
          <a:ln w="15875">
            <a:solidFill>
              <a:srgbClr val="2A3340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8961120" y="5577840"/>
            <a:ext cx="749808" cy="1280160"/>
          </a:xfrm>
          <a:prstGeom prst="rect">
            <a:avLst/>
          </a:prstGeom>
          <a:solidFill>
            <a:srgbClr val="12161C">
              <a:alpha val="0"/>
            </a:srgbClr>
          </a:solidFill>
          <a:ln w="15875">
            <a:solidFill>
              <a:srgbClr val="2A3340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9829800" y="5577840"/>
            <a:ext cx="749808" cy="1280160"/>
          </a:xfrm>
          <a:prstGeom prst="rect">
            <a:avLst/>
          </a:prstGeom>
          <a:solidFill>
            <a:srgbClr val="12161C">
              <a:alpha val="0"/>
            </a:srgbClr>
          </a:solidFill>
          <a:ln w="15875">
            <a:solidFill>
              <a:srgbClr val="2A3340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10698480" y="5577840"/>
            <a:ext cx="749808" cy="1280160"/>
          </a:xfrm>
          <a:prstGeom prst="rect">
            <a:avLst/>
          </a:prstGeom>
          <a:solidFill>
            <a:srgbClr val="12161C">
              <a:alpha val="0"/>
            </a:srgbClr>
          </a:solidFill>
          <a:ln w="15875">
            <a:solidFill>
              <a:srgbClr val="2A3340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11567160" y="5577840"/>
            <a:ext cx="749808" cy="1280160"/>
          </a:xfrm>
          <a:prstGeom prst="rect">
            <a:avLst/>
          </a:prstGeom>
          <a:solidFill>
            <a:srgbClr val="12161C">
              <a:alpha val="0"/>
            </a:srgbClr>
          </a:solidFill>
          <a:ln w="15875">
            <a:solidFill>
              <a:srgbClr val="2A3340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8092440" y="5577840"/>
            <a:ext cx="749808" cy="1280160"/>
          </a:xfrm>
          <a:prstGeom prst="rect">
            <a:avLst/>
          </a:prstGeom>
          <a:solidFill>
            <a:srgbClr val="C8FF2E">
              <a:alpha val="28000"/>
            </a:srgbClr>
          </a:solidFill>
          <a:ln w="12700">
            <a:solidFill>
              <a:srgbClr val="C8FF2E"/>
            </a:solidFill>
            <a:prstDash val="solid"/>
          </a:ln>
        </p:spPr>
        <p:txBody>
          <a:bodyPr/>
          <a:p/>
        </p:txBody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84464" y="6035040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Parking Demand Prediction Using Elastic Net Regularized Regression</dc:title>
  <dc:subject>PptxGenJS Presentation</dc:subject>
  <dc:creator>Nuguri Siri; S. Manvi Vaishnavi</dc:creator>
  <cp:lastModifiedBy>Nuguri Siri; S. Manvi Vaishnavi</cp:lastModifiedBy>
  <cp:revision>1</cp:revision>
  <dcterms:created xsi:type="dcterms:W3CDTF">2026-08-28T09:50:25Z</dcterms:created>
  <dcterms:modified xsi:type="dcterms:W3CDTF">2026-08-28T09:50:25Z</dcterms:modified>
</cp:coreProperties>
</file>